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pace Mono Bold" charset="1" panose="02000809030000020004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74" t="0" r="-9412" b="-163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4183134" y="2261922"/>
            <a:ext cx="12336438" cy="4254504"/>
            <a:chOff x="0" y="0"/>
            <a:chExt cx="3249103" cy="1120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49103" cy="1120528"/>
            </a:xfrm>
            <a:custGeom>
              <a:avLst/>
              <a:gdLst/>
              <a:ahLst/>
              <a:cxnLst/>
              <a:rect r="r" b="b" t="t" l="l"/>
              <a:pathLst>
                <a:path h="1120528" w="3249103">
                  <a:moveTo>
                    <a:pt x="0" y="0"/>
                  </a:moveTo>
                  <a:lnTo>
                    <a:pt x="3249103" y="0"/>
                  </a:lnTo>
                  <a:lnTo>
                    <a:pt x="3249103" y="1120528"/>
                  </a:lnTo>
                  <a:lnTo>
                    <a:pt x="0" y="1120528"/>
                  </a:lnTo>
                  <a:close/>
                </a:path>
              </a:pathLst>
            </a:custGeom>
            <a:gradFill rotWithShape="true">
              <a:gsLst>
                <a:gs pos="0">
                  <a:srgbClr val="486419">
                    <a:alpha val="100000"/>
                  </a:srgbClr>
                </a:gs>
                <a:gs pos="100000">
                  <a:srgbClr val="48641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3249103" cy="1063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342954" y="-775757"/>
            <a:ext cx="22973908" cy="7509098"/>
            <a:chOff x="0" y="0"/>
            <a:chExt cx="6050741" cy="19777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50741" cy="1977705"/>
            </a:xfrm>
            <a:custGeom>
              <a:avLst/>
              <a:gdLst/>
              <a:ahLst/>
              <a:cxnLst/>
              <a:rect r="r" b="b" t="t" l="l"/>
              <a:pathLst>
                <a:path h="1977705" w="6050741">
                  <a:moveTo>
                    <a:pt x="0" y="0"/>
                  </a:moveTo>
                  <a:lnTo>
                    <a:pt x="6050741" y="0"/>
                  </a:lnTo>
                  <a:lnTo>
                    <a:pt x="6050741" y="1977705"/>
                  </a:lnTo>
                  <a:lnTo>
                    <a:pt x="0" y="1977705"/>
                  </a:lnTo>
                  <a:close/>
                </a:path>
              </a:pathLst>
            </a:custGeom>
            <a:gradFill rotWithShape="true">
              <a:gsLst>
                <a:gs pos="0">
                  <a:srgbClr val="486419">
                    <a:alpha val="100000"/>
                  </a:srgbClr>
                </a:gs>
                <a:gs pos="33333">
                  <a:srgbClr val="486419">
                    <a:alpha val="100000"/>
                  </a:srgbClr>
                </a:gs>
                <a:gs pos="66667">
                  <a:srgbClr val="486419">
                    <a:alpha val="89500"/>
                  </a:srgbClr>
                </a:gs>
                <a:gs pos="100000">
                  <a:srgbClr val="48641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6050741" cy="1920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1409724" y="9258300"/>
            <a:ext cx="22973908" cy="1299092"/>
            <a:chOff x="0" y="0"/>
            <a:chExt cx="6050741" cy="3421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50741" cy="342148"/>
            </a:xfrm>
            <a:custGeom>
              <a:avLst/>
              <a:gdLst/>
              <a:ahLst/>
              <a:cxnLst/>
              <a:rect r="r" b="b" t="t" l="l"/>
              <a:pathLst>
                <a:path h="342148" w="6050741">
                  <a:moveTo>
                    <a:pt x="0" y="0"/>
                  </a:moveTo>
                  <a:lnTo>
                    <a:pt x="6050741" y="0"/>
                  </a:lnTo>
                  <a:lnTo>
                    <a:pt x="6050741" y="342148"/>
                  </a:lnTo>
                  <a:lnTo>
                    <a:pt x="0" y="342148"/>
                  </a:lnTo>
                  <a:close/>
                </a:path>
              </a:pathLst>
            </a:custGeom>
            <a:gradFill rotWithShape="true">
              <a:gsLst>
                <a:gs pos="0">
                  <a:srgbClr val="38411C">
                    <a:alpha val="100000"/>
                  </a:srgbClr>
                </a:gs>
                <a:gs pos="100000">
                  <a:srgbClr val="38411C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6050741" cy="284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38757" y="2101411"/>
            <a:ext cx="17610486" cy="25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899"/>
              </a:lnSpc>
            </a:pPr>
            <a:r>
              <a:rPr lang="en-US" b="true" sz="21565" spc="-1940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CROP DEAL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788" b="-117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1268" y="891689"/>
            <a:ext cx="9669379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PROJECT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42683" y="891689"/>
            <a:ext cx="7202083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EFF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1744" y="2560292"/>
            <a:ext cx="12703548" cy="662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  7  Service Based Architecture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Secure jwt based authentication     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OAuth 2.0 login support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Automatic invoice &amp; receipt generation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PDF document creation for payments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notification for payment success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attachment of invoice and receipt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 integration with Razorpay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Scalable identity &amp; Operations Management</a:t>
            </a:r>
          </a:p>
          <a:p>
            <a:pPr algn="l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788" b="-117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1268" y="891689"/>
            <a:ext cx="9669379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CORE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4347" y="891689"/>
            <a:ext cx="11920387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EFF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TECHNOLOGY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1744" y="2560292"/>
            <a:ext cx="12703548" cy="729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 Java 25 / Spring Boot 4.1.1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Security: Spring Security &amp; JWT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Layer: Spring Cloud Gateway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 Discovery: Netflix Eureka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Configuration: Spring Cloud Config Server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 MySQL / Spring Data JPA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Communication: OpenFeign &amp; RabbitMQ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Payments: Razorpay Test API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Notifications: SMTP / Spring Mail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Documentation: Swagger / OpenAPI 3.0</a:t>
            </a:r>
          </a:p>
          <a:p>
            <a:pPr algn="l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788" b="-117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392" y="482935"/>
            <a:ext cx="16909216" cy="9321129"/>
          </a:xfrm>
          <a:custGeom>
            <a:avLst/>
            <a:gdLst/>
            <a:ahLst/>
            <a:cxnLst/>
            <a:rect r="r" b="b" t="t" l="l"/>
            <a:pathLst>
              <a:path h="9321129" w="16909216">
                <a:moveTo>
                  <a:pt x="0" y="0"/>
                </a:moveTo>
                <a:lnTo>
                  <a:pt x="16909216" y="0"/>
                </a:lnTo>
                <a:lnTo>
                  <a:pt x="16909216" y="9321130"/>
                </a:lnTo>
                <a:lnTo>
                  <a:pt x="0" y="932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944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6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6658" y="1506369"/>
            <a:ext cx="8098952" cy="8116185"/>
          </a:xfrm>
          <a:custGeom>
            <a:avLst/>
            <a:gdLst/>
            <a:ahLst/>
            <a:cxnLst/>
            <a:rect r="r" b="b" t="t" l="l"/>
            <a:pathLst>
              <a:path h="8116185" w="8098952">
                <a:moveTo>
                  <a:pt x="0" y="0"/>
                </a:moveTo>
                <a:lnTo>
                  <a:pt x="8098952" y="0"/>
                </a:lnTo>
                <a:lnTo>
                  <a:pt x="8098952" y="8116185"/>
                </a:lnTo>
                <a:lnTo>
                  <a:pt x="0" y="8116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4" r="0" b="-3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1268" y="691664"/>
            <a:ext cx="9669379" cy="8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9"/>
              </a:lnSpc>
            </a:pPr>
            <a:r>
              <a:rPr lang="en-US" b="true" sz="6999" spc="-629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ER/DATABASE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25943" y="691664"/>
            <a:ext cx="6159667" cy="8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9"/>
              </a:lnSpc>
            </a:pPr>
            <a:r>
              <a:rPr lang="en-US" b="true" sz="6999" spc="-629">
                <a:solidFill>
                  <a:srgbClr val="FEFF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788" b="-117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1268" y="891689"/>
            <a:ext cx="9669379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SERVICE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43519" y="891689"/>
            <a:ext cx="11920387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EFF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ECOSYSTEM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436" y="2628900"/>
            <a:ext cx="17259300" cy="662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Authentication Service: Registration, login, JWT, roles, OAuth2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Profile Service: Farmer and dealer profiles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Crop Service: Crop creation, search, filtering, and reservation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 Service: Order creation and order lifecycle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 Service: Razorpay payments, invoices, receipts, bank accounts, and payouts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Notification Service: In-app notifications and optional email notifications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Gateway: Central request routing and JWT validation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Eureka Server: Service discovery and registration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 spc="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Config Server: Centralized application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788" b="-117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1268" y="891689"/>
            <a:ext cx="9669379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SECURITY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05823" y="891689"/>
            <a:ext cx="11920387" cy="14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 spc="-1126">
                <a:solidFill>
                  <a:srgbClr val="FEFF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1744" y="2445992"/>
            <a:ext cx="14868342" cy="647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6475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JWT Authentication: Users register/login through Authentication Service and receive JWT tokens containing email and roles.</a:t>
            </a:r>
          </a:p>
          <a:p>
            <a:pPr algn="l" marL="755651" indent="-377825" lvl="1">
              <a:lnSpc>
                <a:spcPts val="6475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Token Validation: Gateway and each microservice validate the JWT using the shared secret.</a:t>
            </a:r>
          </a:p>
          <a:p>
            <a:pPr algn="l" marL="755651" indent="-377825" lvl="1">
              <a:lnSpc>
                <a:spcPts val="6475"/>
              </a:lnSpc>
              <a:buFont typeface="Arial"/>
              <a:buChar char="•"/>
            </a:pPr>
            <a:r>
              <a:rPr lang="en-US" b="true" sz="3500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Role-Based Authorization: FARMER, DEALER, and ADMIN roles control access to protected operations.</a:t>
            </a:r>
          </a:p>
          <a:p>
            <a:pPr algn="l" marL="755651" indent="-377825" lvl="1">
              <a:lnSpc>
                <a:spcPts val="6475"/>
              </a:lnSpc>
              <a:buFont typeface="Arial"/>
              <a:buChar char="•"/>
            </a:pPr>
            <a:r>
              <a:rPr lang="en-US" b="true" sz="3500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Secure Communication: All protected APIs require Authorization: Bearer ; OAuth2 Google login is optional.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788" b="-117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4924" y="891689"/>
            <a:ext cx="9669379" cy="145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FUTURE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40015" y="891689"/>
            <a:ext cx="11920387" cy="145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84"/>
              </a:lnSpc>
            </a:pPr>
            <a:r>
              <a:rPr lang="en-US" b="true" sz="12511">
                <a:solidFill>
                  <a:srgbClr val="FEFF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ENHANCEMENTS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111" y="2479458"/>
            <a:ext cx="11846733" cy="594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503" indent="-407251" lvl="1">
              <a:lnSpc>
                <a:spcPts val="5960"/>
              </a:lnSpc>
              <a:buFont typeface="Arial"/>
              <a:buChar char="•"/>
            </a:pPr>
            <a:r>
              <a:rPr lang="en-US" b="true" sz="3772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frontend dashboard for farmers and dealers.</a:t>
            </a:r>
          </a:p>
          <a:p>
            <a:pPr algn="l" marL="814503" indent="-407251" lvl="1">
              <a:lnSpc>
                <a:spcPts val="5960"/>
              </a:lnSpc>
              <a:buFont typeface="Arial"/>
              <a:buChar char="•"/>
            </a:pPr>
            <a:r>
              <a:rPr lang="en-US" b="true" sz="3772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production Razorpay webhooks and payout integration and notification service.</a:t>
            </a:r>
          </a:p>
          <a:p>
            <a:pPr algn="l" marL="814503" indent="-407251" lvl="1">
              <a:lnSpc>
                <a:spcPts val="5960"/>
              </a:lnSpc>
              <a:buFont typeface="Arial"/>
              <a:buChar char="•"/>
            </a:pPr>
            <a:r>
              <a:rPr lang="en-US" b="true" sz="3772" spc="3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stronger monitoring, logging, and distributed tracing.</a:t>
            </a:r>
          </a:p>
          <a:p>
            <a:pPr algn="l" marL="814503" indent="-407251" lvl="1">
              <a:lnSpc>
                <a:spcPts val="5960"/>
              </a:lnSpc>
              <a:buFont typeface="Arial"/>
              <a:buChar char="•"/>
            </a:pPr>
            <a:r>
              <a:rPr lang="en-US" b="true" sz="3772" spc="5">
                <a:solidFill>
                  <a:srgbClr val="F6F2D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 services using Docker and Kubernetes/Azure.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4183134" y="2261922"/>
            <a:ext cx="12336438" cy="4254504"/>
            <a:chOff x="0" y="0"/>
            <a:chExt cx="3249103" cy="1120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49103" cy="1120528"/>
            </a:xfrm>
            <a:custGeom>
              <a:avLst/>
              <a:gdLst/>
              <a:ahLst/>
              <a:cxnLst/>
              <a:rect r="r" b="b" t="t" l="l"/>
              <a:pathLst>
                <a:path h="1120528" w="3249103">
                  <a:moveTo>
                    <a:pt x="0" y="0"/>
                  </a:moveTo>
                  <a:lnTo>
                    <a:pt x="3249103" y="0"/>
                  </a:lnTo>
                  <a:lnTo>
                    <a:pt x="3249103" y="1120528"/>
                  </a:lnTo>
                  <a:lnTo>
                    <a:pt x="0" y="1120528"/>
                  </a:lnTo>
                  <a:close/>
                </a:path>
              </a:pathLst>
            </a:custGeom>
            <a:gradFill rotWithShape="true">
              <a:gsLst>
                <a:gs pos="0">
                  <a:srgbClr val="486419">
                    <a:alpha val="100000"/>
                  </a:srgbClr>
                </a:gs>
                <a:gs pos="100000">
                  <a:srgbClr val="48641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3249103" cy="1063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342954" y="-775757"/>
            <a:ext cx="22973908" cy="7509098"/>
            <a:chOff x="0" y="0"/>
            <a:chExt cx="6050741" cy="19777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50741" cy="1977705"/>
            </a:xfrm>
            <a:custGeom>
              <a:avLst/>
              <a:gdLst/>
              <a:ahLst/>
              <a:cxnLst/>
              <a:rect r="r" b="b" t="t" l="l"/>
              <a:pathLst>
                <a:path h="1977705" w="6050741">
                  <a:moveTo>
                    <a:pt x="0" y="0"/>
                  </a:moveTo>
                  <a:lnTo>
                    <a:pt x="6050741" y="0"/>
                  </a:lnTo>
                  <a:lnTo>
                    <a:pt x="6050741" y="1977705"/>
                  </a:lnTo>
                  <a:lnTo>
                    <a:pt x="0" y="1977705"/>
                  </a:lnTo>
                  <a:close/>
                </a:path>
              </a:pathLst>
            </a:custGeom>
            <a:gradFill rotWithShape="true">
              <a:gsLst>
                <a:gs pos="0">
                  <a:srgbClr val="486419">
                    <a:alpha val="100000"/>
                  </a:srgbClr>
                </a:gs>
                <a:gs pos="33333">
                  <a:srgbClr val="486419">
                    <a:alpha val="100000"/>
                  </a:srgbClr>
                </a:gs>
                <a:gs pos="66667">
                  <a:srgbClr val="486419">
                    <a:alpha val="89500"/>
                  </a:srgbClr>
                </a:gs>
                <a:gs pos="100000">
                  <a:srgbClr val="48641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6050741" cy="1920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52542" y="2101411"/>
            <a:ext cx="17382915" cy="25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899"/>
              </a:lnSpc>
            </a:pPr>
            <a:r>
              <a:rPr lang="en-US" b="true" sz="21565" spc="-1940">
                <a:solidFill>
                  <a:srgbClr val="F6F2D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DAHVMS_Q-OU</dc:identifier>
  <dcterms:modified xsi:type="dcterms:W3CDTF">2011-08-01T06:04:30Z</dcterms:modified>
  <cp:revision>1</cp:revision>
  <dc:title>Crops</dc:title>
</cp:coreProperties>
</file>